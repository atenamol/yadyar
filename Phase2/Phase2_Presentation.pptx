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Class distribution (383 students)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Not At Risk</c:v>
                </c:pt>
                <c:pt idx="1">
                  <c:v>At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278</c:v>
                </c:pt>
                <c:pt idx="1">
                  <c:v>105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Breakdown by engagement group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At-risk rate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0.4615384615384615</c:v>
                </c:pt>
                <c:pt idx="1">
                  <c:v>0.24</c:v>
                </c:pt>
                <c:pt idx="2">
                  <c:v>0.1153846153846153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0.9166666666666666</c:v>
                </c:pt>
                <c:pt idx="1">
                  <c:v>0.6666666666666666</c:v>
                </c:pt>
                <c:pt idx="2">
                  <c:v>1.0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Precision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0.5238095238095238</c:v>
                </c:pt>
                <c:pt idx="1">
                  <c:v>0.3076923076923077</c:v>
                </c:pt>
                <c:pt idx="2">
                  <c:v>0.2142857142857142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rative_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ative_footer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ative_accent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ative_circle"/>
          <p:cNvSpPr/>
          <p:nvPr/>
        </p:nvSpPr>
        <p:spPr>
          <a:xfrm>
            <a:off x="7406640" y="-640080"/>
            <a:ext cx="5303520" cy="53035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ative_circle"/>
          <p:cNvSpPr/>
          <p:nvPr/>
        </p:nvSpPr>
        <p:spPr>
          <a:xfrm>
            <a:off x="8321040" y="182880"/>
            <a:ext cx="3474720" cy="347472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tle"/>
          <p:cNvSpPr txBox="1"/>
          <p:nvPr/>
        </p:nvSpPr>
        <p:spPr>
          <a:xfrm>
            <a:off x="731520" y="1234440"/>
            <a:ext cx="7040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4200" b="1">
                <a:solidFill>
                  <a:srgbClr val="101F35"/>
                </a:solidFill>
                <a:latin typeface="Aptos"/>
              </a:defRPr>
            </a:pPr>
            <a:r>
              <a:t>Early Prediction of</a:t>
            </a:r>
            <a:br/>
            <a:r>
              <a:t>At-Risk Students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777240" y="2788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1900" b="0">
                <a:solidFill>
                  <a:srgbClr val="475569"/>
                </a:solidFill>
                <a:latin typeface="Aptos"/>
              </a:defRPr>
            </a:pPr>
            <a:r>
              <a:t>YadYar Lite • Topic T-29 • Phase 2</a:t>
            </a:r>
          </a:p>
        </p:txBody>
      </p:sp>
      <p:sp>
        <p:nvSpPr>
          <p:cNvPr id="9" name="label"/>
          <p:cNvSpPr/>
          <p:nvPr/>
        </p:nvSpPr>
        <p:spPr>
          <a:xfrm>
            <a:off x="777240" y="3429000"/>
            <a:ext cx="2331720" cy="38404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Aptos"/>
              </a:defRPr>
            </a:pPr>
            <a:r>
              <a:t>Lightweight ML Study</a:t>
            </a:r>
          </a:p>
        </p:txBody>
      </p:sp>
      <p:sp>
        <p:nvSpPr>
          <p:cNvPr id="10" name="label"/>
          <p:cNvSpPr/>
          <p:nvPr/>
        </p:nvSpPr>
        <p:spPr>
          <a:xfrm>
            <a:off x="3246120" y="3429000"/>
            <a:ext cx="196596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Aptos"/>
              </a:defRPr>
            </a:pPr>
            <a:r>
              <a:t>OULAD AAA/2013J</a:t>
            </a:r>
          </a:p>
        </p:txBody>
      </p:sp>
      <p:sp>
        <p:nvSpPr>
          <p:cNvPr id="11" name="big_number"/>
          <p:cNvSpPr txBox="1"/>
          <p:nvPr/>
        </p:nvSpPr>
        <p:spPr>
          <a:xfrm>
            <a:off x="8229600" y="14173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defRPr sz="4000" b="1">
                <a:solidFill>
                  <a:srgbClr val="DC2626"/>
                </a:solidFill>
                <a:latin typeface="Aptos"/>
              </a:defRPr>
            </a:pPr>
            <a:r>
              <a:t>27.4%</a:t>
            </a:r>
          </a:p>
        </p:txBody>
      </p:sp>
      <p:sp>
        <p:nvSpPr>
          <p:cNvPr id="12" name="big_number_label"/>
          <p:cNvSpPr txBox="1"/>
          <p:nvPr/>
        </p:nvSpPr>
        <p:spPr>
          <a:xfrm>
            <a:off x="8229600" y="211226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475569"/>
                </a:solidFill>
                <a:latin typeface="Aptos"/>
              </a:defRPr>
            </a:pPr>
            <a:r>
              <a:t>At-Risk students</a:t>
            </a:r>
          </a:p>
        </p:txBody>
      </p:sp>
      <p:sp>
        <p:nvSpPr>
          <p:cNvPr id="13" name="big_number"/>
          <p:cNvSpPr txBox="1"/>
          <p:nvPr/>
        </p:nvSpPr>
        <p:spPr>
          <a:xfrm>
            <a:off x="8229600" y="2788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defRPr sz="4000" b="1">
                <a:solidFill>
                  <a:srgbClr val="2563EB"/>
                </a:solidFill>
                <a:latin typeface="Aptos"/>
              </a:defRPr>
            </a:pPr>
            <a:r>
              <a:t>30 days</a:t>
            </a:r>
          </a:p>
        </p:txBody>
      </p:sp>
      <p:sp>
        <p:nvSpPr>
          <p:cNvPr id="14" name="big_number_label"/>
          <p:cNvSpPr txBox="1"/>
          <p:nvPr/>
        </p:nvSpPr>
        <p:spPr>
          <a:xfrm>
            <a:off x="8229600" y="3483863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475569"/>
                </a:solidFill>
                <a:latin typeface="Aptos"/>
              </a:defRPr>
            </a:pPr>
            <a:r>
              <a:t>Early activity only</a:t>
            </a:r>
          </a:p>
        </p:txBody>
      </p:sp>
      <p:sp>
        <p:nvSpPr>
          <p:cNvPr id="15" name="placeholder_info"/>
          <p:cNvSpPr txBox="1"/>
          <p:nvPr/>
        </p:nvSpPr>
        <p:spPr>
          <a:xfrm>
            <a:off x="777240" y="512064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Members: Mahdieh Tajbakhsh; Atena Molaee; Fatemeh Masoomi</a:t>
            </a:r>
          </a:p>
          <a:p>
            <a:pPr>
              <a:defRPr sz="1000">
                <a:latin typeface="Arial"/>
              </a:defRPr>
            </a:pPr>
            <a:r>
              <a:t>Presentation order: Atena Molaee -&gt; Fatemeh Masoomi -&gt; Mahdieh Tajbakhsh</a:t>
            </a:r>
          </a:p>
        </p:txBody>
      </p:sp>
      <p:sp>
        <p:nvSpPr>
          <p:cNvPr id="16" name="footer_left"/>
          <p:cNvSpPr txBox="1"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850" b="0">
                <a:solidFill>
                  <a:srgbClr val="475569"/>
                </a:solidFill>
                <a:latin typeface="Aptos"/>
              </a:defRPr>
            </a:pPr>
            <a:r>
              <a:t>YadYar Lite • T-29 At-Risk Student Prediction</a:t>
            </a:r>
          </a:p>
        </p:txBody>
      </p:sp>
      <p:sp>
        <p:nvSpPr>
          <p:cNvPr id="17" name="footer_page"/>
          <p:cNvSpPr txBox="1"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475569"/>
                </a:solidFill>
                <a:latin typeface="Aptos"/>
              </a:defRPr>
            </a:pPr>
            <a:r>
              <a:t>1</a:t>
            </a:r>
          </a:p>
        </p:txBody>
      </p:sp>
      <p:pic>
        <p:nvPicPr>
          <p:cNvPr id="18" name="Picture 17" descr="kntu_icon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19" y="73152"/>
            <a:ext cx="658368" cy="4632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rative_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ative_footer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ative_accent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3100" b="1">
                <a:solidFill>
                  <a:srgbClr val="101F35"/>
                </a:solidFill>
                <a:latin typeface="Aptos"/>
              </a:defRPr>
            </a:pPr>
            <a:r>
              <a:t>Problem: find students who may need early support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30352" y="8869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1300" b="0">
                <a:solidFill>
                  <a:srgbClr val="475569"/>
                </a:solidFill>
                <a:latin typeface="Aptos"/>
              </a:defRPr>
            </a:pPr>
            <a:r>
              <a:t>Task definition and class imbalance</a:t>
            </a:r>
          </a:p>
        </p:txBody>
      </p:sp>
      <p:sp>
        <p:nvSpPr>
          <p:cNvPr id="7" name="content_block"/>
          <p:cNvSpPr/>
          <p:nvPr/>
        </p:nvSpPr>
        <p:spPr>
          <a:xfrm>
            <a:off x="777240" y="1508760"/>
            <a:ext cx="21488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rative_accentbar"/>
          <p:cNvSpPr/>
          <p:nvPr/>
        </p:nvSpPr>
        <p:spPr>
          <a:xfrm>
            <a:off x="777240" y="150876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_text"/>
          <p:cNvSpPr txBox="1"/>
          <p:nvPr/>
        </p:nvSpPr>
        <p:spPr>
          <a:xfrm>
            <a:off x="941832" y="1618488"/>
            <a:ext cx="1828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01F35"/>
                </a:solidFill>
                <a:latin typeface="Aptos"/>
              </a:defRPr>
            </a:pPr>
            <a:r>
              <a:t>First 30 days</a:t>
            </a:r>
          </a:p>
          <a:p>
            <a:pPr>
              <a:spcAft>
                <a:spcPts val="2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activity + enrollment</a:t>
            </a:r>
          </a:p>
        </p:txBody>
      </p:sp>
      <p:cxnSp>
        <p:nvCxnSpPr>
          <p:cNvPr id="10" name="connector"/>
          <p:cNvCxnSpPr/>
          <p:nvPr/>
        </p:nvCxnSpPr>
        <p:spPr>
          <a:xfrm>
            <a:off x="3017520" y="2057400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_block"/>
          <p:cNvSpPr/>
          <p:nvPr/>
        </p:nvSpPr>
        <p:spPr>
          <a:xfrm>
            <a:off x="3520440" y="1508760"/>
            <a:ext cx="21488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orative_accentbar"/>
          <p:cNvSpPr/>
          <p:nvPr/>
        </p:nvSpPr>
        <p:spPr>
          <a:xfrm>
            <a:off x="3520440" y="1508760"/>
            <a:ext cx="73152" cy="10972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_text"/>
          <p:cNvSpPr txBox="1"/>
          <p:nvPr/>
        </p:nvSpPr>
        <p:spPr>
          <a:xfrm>
            <a:off x="3685032" y="1618488"/>
            <a:ext cx="1828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01F35"/>
                </a:solidFill>
                <a:latin typeface="Aptos"/>
              </a:defRPr>
            </a:pPr>
            <a:r>
              <a:t>ML model</a:t>
            </a:r>
          </a:p>
          <a:p>
            <a:pPr>
              <a:spcAft>
                <a:spcPts val="2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risk probability</a:t>
            </a:r>
          </a:p>
        </p:txBody>
      </p:sp>
      <p:cxnSp>
        <p:nvCxnSpPr>
          <p:cNvPr id="14" name="connector"/>
          <p:cNvCxnSpPr/>
          <p:nvPr/>
        </p:nvCxnSpPr>
        <p:spPr>
          <a:xfrm>
            <a:off x="5760720" y="2057400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_block"/>
          <p:cNvSpPr/>
          <p:nvPr/>
        </p:nvSpPr>
        <p:spPr>
          <a:xfrm>
            <a:off x="6263640" y="1508760"/>
            <a:ext cx="21488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corative_accentbar"/>
          <p:cNvSpPr/>
          <p:nvPr/>
        </p:nvSpPr>
        <p:spPr>
          <a:xfrm>
            <a:off x="6263640" y="1508760"/>
            <a:ext cx="73152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_text"/>
          <p:cNvSpPr txBox="1"/>
          <p:nvPr/>
        </p:nvSpPr>
        <p:spPr>
          <a:xfrm>
            <a:off x="6428231" y="1618488"/>
            <a:ext cx="1828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01F35"/>
                </a:solidFill>
                <a:latin typeface="Aptos"/>
              </a:defRPr>
            </a:pPr>
            <a:r>
              <a:t>Human support</a:t>
            </a:r>
          </a:p>
          <a:p>
            <a:pPr>
              <a:spcAft>
                <a:spcPts val="2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review + intervention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822960" y="3291840"/>
          <a:ext cx="484632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bullet_text"/>
          <p:cNvSpPr txBox="1"/>
          <p:nvPr/>
        </p:nvSpPr>
        <p:spPr>
          <a:xfrm>
            <a:off x="6400800" y="3703320"/>
            <a:ext cx="4572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01F35"/>
                </a:solidFill>
                <a:latin typeface="Aptos"/>
              </a:defRPr>
            </a:pPr>
            <a:r>
              <a:t>At Risk = Fail or Withdrawn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01F35"/>
                </a:solidFill>
                <a:latin typeface="Aptos"/>
              </a:defRPr>
            </a:pPr>
            <a:r>
              <a:t>Not At Risk = Pass or Distinction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01F35"/>
                </a:solidFill>
                <a:latin typeface="Aptos"/>
              </a:defRPr>
            </a:pPr>
            <a:r>
              <a:t>Minority class is the one the project cares about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01F35"/>
                </a:solidFill>
                <a:latin typeface="Aptos"/>
              </a:defRPr>
            </a:pPr>
            <a:r>
              <a:t>Goal: warning signal, not automatic judgment</a:t>
            </a:r>
          </a:p>
        </p:txBody>
      </p:sp>
      <p:sp>
        <p:nvSpPr>
          <p:cNvPr id="20" name="big_number"/>
          <p:cNvSpPr txBox="1"/>
          <p:nvPr/>
        </p:nvSpPr>
        <p:spPr>
          <a:xfrm>
            <a:off x="9509760" y="14173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defRPr sz="4000" b="1">
                <a:solidFill>
                  <a:srgbClr val="DC2626"/>
                </a:solidFill>
                <a:latin typeface="Aptos"/>
              </a:defRPr>
            </a:pPr>
            <a:r>
              <a:t>105</a:t>
            </a:r>
          </a:p>
        </p:txBody>
      </p:sp>
      <p:sp>
        <p:nvSpPr>
          <p:cNvPr id="21" name="big_number_label"/>
          <p:cNvSpPr txBox="1"/>
          <p:nvPr/>
        </p:nvSpPr>
        <p:spPr>
          <a:xfrm>
            <a:off x="9509760" y="211226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475569"/>
                </a:solidFill>
                <a:latin typeface="Aptos"/>
              </a:defRPr>
            </a:pPr>
            <a:r>
              <a:t>At Risk</a:t>
            </a:r>
          </a:p>
        </p:txBody>
      </p:sp>
      <p:sp>
        <p:nvSpPr>
          <p:cNvPr id="22" name="big_number"/>
          <p:cNvSpPr txBox="1"/>
          <p:nvPr/>
        </p:nvSpPr>
        <p:spPr>
          <a:xfrm>
            <a:off x="9509760" y="26060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defRPr sz="4000" b="1">
                <a:solidFill>
                  <a:srgbClr val="2563EB"/>
                </a:solidFill>
                <a:latin typeface="Aptos"/>
              </a:defRPr>
            </a:pPr>
            <a:r>
              <a:t>278</a:t>
            </a:r>
          </a:p>
        </p:txBody>
      </p:sp>
      <p:sp>
        <p:nvSpPr>
          <p:cNvPr id="23" name="big_number_label"/>
          <p:cNvSpPr txBox="1"/>
          <p:nvPr/>
        </p:nvSpPr>
        <p:spPr>
          <a:xfrm>
            <a:off x="9509760" y="330098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475569"/>
                </a:solidFill>
                <a:latin typeface="Aptos"/>
              </a:defRPr>
            </a:pPr>
            <a:r>
              <a:t>Not At Risk</a:t>
            </a:r>
          </a:p>
        </p:txBody>
      </p:sp>
      <p:sp>
        <p:nvSpPr>
          <p:cNvPr id="24" name="footer_left"/>
          <p:cNvSpPr txBox="1"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850" b="0">
                <a:solidFill>
                  <a:srgbClr val="475569"/>
                </a:solidFill>
                <a:latin typeface="Aptos"/>
              </a:defRPr>
            </a:pPr>
            <a:r>
              <a:t>YadYar Lite • T-29 At-Risk Student Prediction</a:t>
            </a:r>
          </a:p>
        </p:txBody>
      </p:sp>
      <p:sp>
        <p:nvSpPr>
          <p:cNvPr id="25" name="footer_page"/>
          <p:cNvSpPr txBox="1"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475569"/>
                </a:solidFill>
                <a:latin typeface="Aptos"/>
              </a:defRPr>
            </a:pPr>
            <a:r>
              <a:t>2</a:t>
            </a:r>
          </a:p>
        </p:txBody>
      </p:sp>
      <p:pic>
        <p:nvPicPr>
          <p:cNvPr id="26" name="Picture 25" descr="kntu_icon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319" y="73152"/>
            <a:ext cx="658368" cy="463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rative_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ative_footer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ative_accent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3100" b="1">
                <a:solidFill>
                  <a:srgbClr val="101F35"/>
                </a:solidFill>
                <a:latin typeface="Aptos"/>
              </a:defRPr>
            </a:pPr>
            <a:r>
              <a:t>Features: only what is known by day 30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30352" y="8869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1300" b="0">
                <a:solidFill>
                  <a:srgbClr val="475569"/>
                </a:solidFill>
                <a:latin typeface="Aptos"/>
              </a:defRPr>
            </a:pPr>
            <a:r>
              <a:t>Leakage prevention is central to the experiment</a:t>
            </a:r>
          </a:p>
        </p:txBody>
      </p:sp>
      <p:cxnSp>
        <p:nvCxnSpPr>
          <p:cNvPr id="7" name="timeline_line"/>
          <p:cNvCxnSpPr/>
          <p:nvPr/>
        </p:nvCxnSpPr>
        <p:spPr>
          <a:xfrm>
            <a:off x="822960" y="1920240"/>
            <a:ext cx="9966960" cy="0"/>
          </a:xfrm>
          <a:prstGeom prst="line">
            <a:avLst/>
          </a:prstGeom>
          <a:ln w="381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meline_node"/>
          <p:cNvSpPr/>
          <p:nvPr/>
        </p:nvSpPr>
        <p:spPr>
          <a:xfrm>
            <a:off x="914400" y="17282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meline_label"/>
          <p:cNvSpPr txBox="1"/>
          <p:nvPr/>
        </p:nvSpPr>
        <p:spPr>
          <a:xfrm>
            <a:off x="502920" y="21488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101F35"/>
                </a:solidFill>
                <a:latin typeface="Aptos"/>
              </a:defRPr>
            </a:pPr>
            <a:r>
              <a:t>Day 0</a:t>
            </a:r>
          </a:p>
        </p:txBody>
      </p:sp>
      <p:sp>
        <p:nvSpPr>
          <p:cNvPr id="10" name="timeline_node"/>
          <p:cNvSpPr/>
          <p:nvPr/>
        </p:nvSpPr>
        <p:spPr>
          <a:xfrm>
            <a:off x="4937760" y="1728216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meline_label"/>
          <p:cNvSpPr txBox="1"/>
          <p:nvPr/>
        </p:nvSpPr>
        <p:spPr>
          <a:xfrm>
            <a:off x="4526280" y="21488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101F35"/>
                </a:solidFill>
                <a:latin typeface="Aptos"/>
              </a:defRPr>
            </a:pPr>
            <a:r>
              <a:t>Day 30</a:t>
            </a:r>
          </a:p>
        </p:txBody>
      </p:sp>
      <p:sp>
        <p:nvSpPr>
          <p:cNvPr id="12" name="timeline_node"/>
          <p:cNvSpPr/>
          <p:nvPr/>
        </p:nvSpPr>
        <p:spPr>
          <a:xfrm>
            <a:off x="9692640" y="1728216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meline_label"/>
          <p:cNvSpPr txBox="1"/>
          <p:nvPr/>
        </p:nvSpPr>
        <p:spPr>
          <a:xfrm>
            <a:off x="9281160" y="21488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defRPr sz="1200" b="1">
                <a:solidFill>
                  <a:srgbClr val="101F35"/>
                </a:solidFill>
                <a:latin typeface="Aptos"/>
              </a:defRPr>
            </a:pPr>
            <a:r>
              <a:t>Final result</a:t>
            </a:r>
          </a:p>
        </p:txBody>
      </p:sp>
      <p:sp>
        <p:nvSpPr>
          <p:cNvPr id="14" name="label"/>
          <p:cNvSpPr/>
          <p:nvPr/>
        </p:nvSpPr>
        <p:spPr>
          <a:xfrm>
            <a:off x="1417320" y="1417320"/>
            <a:ext cx="30175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Aptos"/>
              </a:defRPr>
            </a:pPr>
            <a:r>
              <a:t>Allowed features</a:t>
            </a:r>
          </a:p>
        </p:txBody>
      </p:sp>
      <p:sp>
        <p:nvSpPr>
          <p:cNvPr id="15" name="label"/>
          <p:cNvSpPr/>
          <p:nvPr/>
        </p:nvSpPr>
        <p:spPr>
          <a:xfrm>
            <a:off x="5806440" y="1417320"/>
            <a:ext cx="310896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lnSpc>
                <a:spcPct val="100000"/>
              </a:lnSpc>
              <a:defRPr sz="1300" b="1">
                <a:solidFill>
                  <a:srgbClr val="FFFFFF"/>
                </a:solidFill>
                <a:latin typeface="Aptos"/>
              </a:defRPr>
            </a:pPr>
            <a:r>
              <a:t>Excluded from inputs</a:t>
            </a:r>
          </a:p>
        </p:txBody>
      </p:sp>
      <p:sp>
        <p:nvSpPr>
          <p:cNvPr id="16" name="content_block"/>
          <p:cNvSpPr/>
          <p:nvPr/>
        </p:nvSpPr>
        <p:spPr>
          <a:xfrm>
            <a:off x="822960" y="2880360"/>
            <a:ext cx="33832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corative_accentbar"/>
          <p:cNvSpPr/>
          <p:nvPr/>
        </p:nvSpPr>
        <p:spPr>
          <a:xfrm>
            <a:off x="822960" y="288036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_text"/>
          <p:cNvSpPr txBox="1"/>
          <p:nvPr/>
        </p:nvSpPr>
        <p:spPr>
          <a:xfrm>
            <a:off x="987552" y="2990088"/>
            <a:ext cx="306324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1F35"/>
                </a:solidFill>
                <a:latin typeface="Aptos"/>
              </a:defRPr>
            </a:pPr>
            <a:r>
              <a:t>Enrollment &amp; demographics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previous attempts, credits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education, region, age band</a:t>
            </a:r>
          </a:p>
        </p:txBody>
      </p:sp>
      <p:sp>
        <p:nvSpPr>
          <p:cNvPr id="19" name="content_block"/>
          <p:cNvSpPr/>
          <p:nvPr/>
        </p:nvSpPr>
        <p:spPr>
          <a:xfrm>
            <a:off x="4389120" y="2880360"/>
            <a:ext cx="33832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corative_accentbar"/>
          <p:cNvSpPr/>
          <p:nvPr/>
        </p:nvSpPr>
        <p:spPr>
          <a:xfrm>
            <a:off x="4389120" y="2880360"/>
            <a:ext cx="73152" cy="1051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_text"/>
          <p:cNvSpPr txBox="1"/>
          <p:nvPr/>
        </p:nvSpPr>
        <p:spPr>
          <a:xfrm>
            <a:off x="4553712" y="2990088"/>
            <a:ext cx="306324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1F35"/>
                </a:solidFill>
                <a:latin typeface="Aptos"/>
              </a:defRPr>
            </a:pPr>
            <a:r>
              <a:t>VLE activity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total clicks, active days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resources visited</a:t>
            </a:r>
          </a:p>
        </p:txBody>
      </p:sp>
      <p:sp>
        <p:nvSpPr>
          <p:cNvPr id="22" name="content_block"/>
          <p:cNvSpPr/>
          <p:nvPr/>
        </p:nvSpPr>
        <p:spPr>
          <a:xfrm>
            <a:off x="7955279" y="2880360"/>
            <a:ext cx="33832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corative_accentbar"/>
          <p:cNvSpPr/>
          <p:nvPr/>
        </p:nvSpPr>
        <p:spPr>
          <a:xfrm>
            <a:off x="7955279" y="2880360"/>
            <a:ext cx="73152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_text"/>
          <p:cNvSpPr txBox="1"/>
          <p:nvPr/>
        </p:nvSpPr>
        <p:spPr>
          <a:xfrm>
            <a:off x="8119871" y="2990088"/>
            <a:ext cx="306324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1F35"/>
                </a:solidFill>
                <a:latin typeface="Aptos"/>
              </a:defRPr>
            </a:pPr>
            <a:r>
              <a:t>Early assessments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submitted count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average score before day 30</a:t>
            </a:r>
          </a:p>
        </p:txBody>
      </p:sp>
      <p:sp>
        <p:nvSpPr>
          <p:cNvPr id="25" name="leakage_guard"/>
          <p:cNvSpPr/>
          <p:nvPr/>
        </p:nvSpPr>
        <p:spPr>
          <a:xfrm>
            <a:off x="2194560" y="4663440"/>
            <a:ext cx="7680960" cy="6858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defRPr sz="1800" b="1">
                <a:solidFill>
                  <a:srgbClr val="DC2626"/>
                </a:solidFill>
                <a:latin typeface="Aptos"/>
              </a:defRPr>
            </a:pPr>
            <a:r>
              <a:t>final_result and all post-day-30 behavior are never used as model inputs</a:t>
            </a:r>
          </a:p>
        </p:txBody>
      </p:sp>
      <p:sp>
        <p:nvSpPr>
          <p:cNvPr id="26" name="footer_left"/>
          <p:cNvSpPr txBox="1"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850" b="0">
                <a:solidFill>
                  <a:srgbClr val="475569"/>
                </a:solidFill>
                <a:latin typeface="Aptos"/>
              </a:defRPr>
            </a:pPr>
            <a:r>
              <a:t>YadYar Lite • T-29 At-Risk Student Prediction</a:t>
            </a:r>
          </a:p>
        </p:txBody>
      </p:sp>
      <p:sp>
        <p:nvSpPr>
          <p:cNvPr id="27" name="footer_page"/>
          <p:cNvSpPr txBox="1"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475569"/>
                </a:solidFill>
                <a:latin typeface="Aptos"/>
              </a:defRPr>
            </a:pPr>
            <a:r>
              <a:t>3</a:t>
            </a:r>
          </a:p>
        </p:txBody>
      </p:sp>
      <p:pic>
        <p:nvPicPr>
          <p:cNvPr id="28" name="Picture 27" descr="kntu_icon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19" y="73152"/>
            <a:ext cx="658368" cy="463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rative_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ative_footer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ative_accent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3100" b="1">
                <a:solidFill>
                  <a:srgbClr val="101F35"/>
                </a:solidFill>
                <a:latin typeface="Aptos"/>
              </a:defRPr>
            </a:pPr>
            <a:r>
              <a:t>Models and evaluation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30352" y="8869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1300" b="0">
                <a:solidFill>
                  <a:srgbClr val="475569"/>
                </a:solidFill>
                <a:latin typeface="Aptos"/>
              </a:defRPr>
            </a:pPr>
            <a:r>
              <a:t>A simple baseline plus one bonus comparison model</a:t>
            </a:r>
          </a:p>
        </p:txBody>
      </p:sp>
      <p:sp>
        <p:nvSpPr>
          <p:cNvPr id="7" name="content_block"/>
          <p:cNvSpPr/>
          <p:nvPr/>
        </p:nvSpPr>
        <p:spPr>
          <a:xfrm>
            <a:off x="731520" y="1417320"/>
            <a:ext cx="333756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rative_accentbar"/>
          <p:cNvSpPr/>
          <p:nvPr/>
        </p:nvSpPr>
        <p:spPr>
          <a:xfrm>
            <a:off x="731520" y="14173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_text"/>
          <p:cNvSpPr txBox="1"/>
          <p:nvPr/>
        </p:nvSpPr>
        <p:spPr>
          <a:xfrm>
            <a:off x="896112" y="1527048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1F35"/>
                </a:solidFill>
                <a:latin typeface="Aptos"/>
              </a:defRPr>
            </a:pPr>
            <a:r>
              <a:t>Baseline models</a:t>
            </a:r>
          </a:p>
          <a:p>
            <a:pPr>
              <a:spcAft>
                <a:spcPts val="2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Majority Dummy</a:t>
            </a:r>
          </a:p>
          <a:p>
            <a:pPr>
              <a:spcAft>
                <a:spcPts val="2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Standard Logistic Regression</a:t>
            </a:r>
          </a:p>
          <a:p>
            <a:pPr>
              <a:spcAft>
                <a:spcPts val="2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Balanced Logistic Regression</a:t>
            </a:r>
          </a:p>
        </p:txBody>
      </p:sp>
      <p:sp>
        <p:nvSpPr>
          <p:cNvPr id="10" name="content_block"/>
          <p:cNvSpPr/>
          <p:nvPr/>
        </p:nvSpPr>
        <p:spPr>
          <a:xfrm>
            <a:off x="4389120" y="1417320"/>
            <a:ext cx="333756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rative_accentbar"/>
          <p:cNvSpPr/>
          <p:nvPr/>
        </p:nvSpPr>
        <p:spPr>
          <a:xfrm>
            <a:off x="4389120" y="1417320"/>
            <a:ext cx="73152" cy="1234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_text"/>
          <p:cNvSpPr txBox="1"/>
          <p:nvPr/>
        </p:nvSpPr>
        <p:spPr>
          <a:xfrm>
            <a:off x="4553712" y="1527048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1F35"/>
                </a:solidFill>
                <a:latin typeface="Aptos"/>
              </a:defRPr>
            </a:pPr>
            <a:r>
              <a:t>Bonus models</a:t>
            </a:r>
          </a:p>
          <a:p>
            <a:pPr>
              <a:spcAft>
                <a:spcPts val="2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Standard LightGBM</a:t>
            </a:r>
          </a:p>
          <a:p>
            <a:pPr>
              <a:spcAft>
                <a:spcPts val="2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Balanced LightGBM</a:t>
            </a:r>
          </a:p>
          <a:p>
            <a:pPr>
              <a:spcAft>
                <a:spcPts val="2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small trees to reduce overfitting</a:t>
            </a:r>
          </a:p>
        </p:txBody>
      </p:sp>
      <p:sp>
        <p:nvSpPr>
          <p:cNvPr id="13" name="content_block"/>
          <p:cNvSpPr/>
          <p:nvPr/>
        </p:nvSpPr>
        <p:spPr>
          <a:xfrm>
            <a:off x="8046720" y="1417320"/>
            <a:ext cx="333756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corative_accentbar"/>
          <p:cNvSpPr/>
          <p:nvPr/>
        </p:nvSpPr>
        <p:spPr>
          <a:xfrm>
            <a:off x="8046720" y="141732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_text"/>
          <p:cNvSpPr txBox="1"/>
          <p:nvPr/>
        </p:nvSpPr>
        <p:spPr>
          <a:xfrm>
            <a:off x="8211312" y="1527048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1F35"/>
                </a:solidFill>
                <a:latin typeface="Aptos"/>
              </a:defRPr>
            </a:pPr>
            <a:r>
              <a:t>Decision thresholds</a:t>
            </a:r>
          </a:p>
          <a:p>
            <a:pPr>
              <a:spcAft>
                <a:spcPts val="2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0.50 = default</a:t>
            </a:r>
          </a:p>
          <a:p>
            <a:pPr>
              <a:spcAft>
                <a:spcPts val="2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0.30 = higher recall</a:t>
            </a:r>
          </a:p>
          <a:p>
            <a:pPr>
              <a:spcAft>
                <a:spcPts val="2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same test split for all models</a:t>
            </a:r>
          </a:p>
        </p:txBody>
      </p:sp>
      <p:sp>
        <p:nvSpPr>
          <p:cNvPr id="16" name="big_number"/>
          <p:cNvSpPr txBox="1"/>
          <p:nvPr/>
        </p:nvSpPr>
        <p:spPr>
          <a:xfrm>
            <a:off x="1005840" y="34747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defRPr sz="4000" b="1">
                <a:solidFill>
                  <a:srgbClr val="DC2626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7" name="big_number_label"/>
          <p:cNvSpPr txBox="1"/>
          <p:nvPr/>
        </p:nvSpPr>
        <p:spPr>
          <a:xfrm>
            <a:off x="1005840" y="4169663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475569"/>
                </a:solidFill>
                <a:latin typeface="Aptos"/>
              </a:defRPr>
            </a:pPr>
            <a:r>
              <a:t>primary metric</a:t>
            </a:r>
          </a:p>
        </p:txBody>
      </p:sp>
      <p:sp>
        <p:nvSpPr>
          <p:cNvPr id="18" name="big_number"/>
          <p:cNvSpPr txBox="1"/>
          <p:nvPr/>
        </p:nvSpPr>
        <p:spPr>
          <a:xfrm>
            <a:off x="3749039" y="34747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defRPr sz="4000" b="1">
                <a:solidFill>
                  <a:srgbClr val="7C3AED"/>
                </a:solidFill>
                <a:latin typeface="Aptos"/>
              </a:defRPr>
            </a:pPr>
            <a:r>
              <a:t>PR-AUC</a:t>
            </a:r>
          </a:p>
        </p:txBody>
      </p:sp>
      <p:sp>
        <p:nvSpPr>
          <p:cNvPr id="19" name="big_number_label"/>
          <p:cNvSpPr txBox="1"/>
          <p:nvPr/>
        </p:nvSpPr>
        <p:spPr>
          <a:xfrm>
            <a:off x="3749039" y="4169663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475569"/>
                </a:solidFill>
                <a:latin typeface="Aptos"/>
              </a:defRPr>
            </a:pPr>
            <a:r>
              <a:t>ranking under imbalance</a:t>
            </a:r>
          </a:p>
        </p:txBody>
      </p:sp>
      <p:sp>
        <p:nvSpPr>
          <p:cNvPr id="20" name="big_number"/>
          <p:cNvSpPr txBox="1"/>
          <p:nvPr/>
        </p:nvSpPr>
        <p:spPr>
          <a:xfrm>
            <a:off x="6492240" y="34747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/>
              <a:t>Cost</a:t>
            </a:r>
          </a:p>
          <a:p>
            <a:pPr algn="l"/>
            <a:r>
              <a:rPr sz="2000" b="1"/>
              <a:t>5×FN + FP</a:t>
            </a:r>
          </a:p>
        </p:txBody>
      </p:sp>
      <p:sp>
        <p:nvSpPr>
          <p:cNvPr id="21" name="big_number_label"/>
          <p:cNvSpPr txBox="1"/>
          <p:nvPr/>
        </p:nvSpPr>
        <p:spPr>
          <a:xfrm>
            <a:off x="6492240" y="4169663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defRPr sz="1150" b="0">
                <a:solidFill>
                  <a:srgbClr val="475569"/>
                </a:solidFill>
                <a:latin typeface="Aptos"/>
              </a:defRPr>
            </a:pPr>
            <a:r>
              <a:t>illustrative cost</a:t>
            </a:r>
          </a:p>
        </p:txBody>
      </p:sp>
      <p:sp>
        <p:nvSpPr>
          <p:cNvPr id="22" name="note"/>
          <p:cNvSpPr txBox="1"/>
          <p:nvPr/>
        </p:nvSpPr>
        <p:spPr>
          <a:xfrm>
            <a:off x="868680" y="553212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101F35"/>
                </a:solidFill>
                <a:latin typeface="Aptos"/>
              </a:defRPr>
            </a:pPr>
            <a:r>
              <a:t>Reason: a missed at-risk student is treated as more harmful than an unnecessary support alert.</a:t>
            </a:r>
          </a:p>
        </p:txBody>
      </p:sp>
      <p:sp>
        <p:nvSpPr>
          <p:cNvPr id="23" name="footer_left"/>
          <p:cNvSpPr txBox="1"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850" b="0">
                <a:solidFill>
                  <a:srgbClr val="475569"/>
                </a:solidFill>
                <a:latin typeface="Aptos"/>
              </a:defRPr>
            </a:pPr>
            <a:r>
              <a:t>YadYar Lite • T-29 At-Risk Student Prediction</a:t>
            </a:r>
          </a:p>
        </p:txBody>
      </p:sp>
      <p:sp>
        <p:nvSpPr>
          <p:cNvPr id="24" name="footer_page"/>
          <p:cNvSpPr txBox="1"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475569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25" name="Picture 24" descr="kntu_icon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19" y="73152"/>
            <a:ext cx="658368" cy="463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rative_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ative_footer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ative_accent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Main result: operating point matters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30352" y="8869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1300" b="0">
                <a:solidFill>
                  <a:srgbClr val="475569"/>
                </a:solidFill>
                <a:latin typeface="Aptos"/>
              </a:defRPr>
            </a:pPr>
            <a:r>
              <a:t>High recall vs. high precision</a:t>
            </a:r>
          </a:p>
        </p:txBody>
      </p:sp>
      <p:pic>
        <p:nvPicPr>
          <p:cNvPr id="7" name="recall_precision_chart" descr="operating_point_recall_pr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99540"/>
            <a:ext cx="6492240" cy="3967480"/>
          </a:xfrm>
          <a:prstGeom prst="rect">
            <a:avLst/>
          </a:prstGeom>
        </p:spPr>
      </p:pic>
      <p:graphicFrame>
        <p:nvGraphicFramePr>
          <p:cNvPr id="8" name="data_table"/>
          <p:cNvGraphicFramePr>
            <a:graphicFrameLocks noGrp="1"/>
          </p:cNvGraphicFramePr>
          <p:nvPr/>
        </p:nvGraphicFramePr>
        <p:xfrm>
          <a:off x="7178040" y="1463040"/>
          <a:ext cx="45720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Choice</a:t>
                      </a:r>
                    </a:p>
                  </a:txBody>
                  <a:tcPr marL="36576" marR="36576" marT="18288" marB="18288">
                    <a:solidFill>
                      <a:srgbClr val="101F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36576" marR="36576" marT="18288" marB="18288">
                    <a:solidFill>
                      <a:srgbClr val="101F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36576" marR="36576" marT="18288" marB="18288">
                    <a:solidFill>
                      <a:srgbClr val="101F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36576" marR="36576" marT="18288" marB="18288">
                    <a:solidFill>
                      <a:srgbClr val="101F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Cost</a:t>
                      </a:r>
                    </a:p>
                  </a:txBody>
                  <a:tcPr marL="36576" marR="36576" marT="18288" marB="18288">
                    <a:solidFill>
                      <a:srgbClr val="101F3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01F35"/>
                          </a:solidFill>
                          <a:latin typeface="Aptos"/>
                        </a:defRPr>
                      </a:pPr>
                      <a:r>
                        <a:t>High recall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01F35"/>
                          </a:solidFill>
                          <a:latin typeface="Aptos"/>
                        </a:defRPr>
                      </a:pPr>
                      <a:r>
                        <a:t>Bal. Logistic @0.30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01F35"/>
                          </a:solidFill>
                          <a:latin typeface="Aptos"/>
                        </a:defRPr>
                      </a:pPr>
                      <a:r>
                        <a:t>0.857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01F35"/>
                          </a:solidFill>
                          <a:latin typeface="Aptos"/>
                        </a:defRPr>
                      </a:pPr>
                      <a:r>
                        <a:t>0.375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01F35"/>
                          </a:solidFill>
                          <a:latin typeface="Aptos"/>
                        </a:defRPr>
                      </a:pPr>
                      <a:r>
                        <a:t>45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01F35"/>
                          </a:solidFill>
                          <a:latin typeface="Aptos"/>
                        </a:defRPr>
                      </a:pPr>
                      <a:r>
                        <a:t>High precision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01F35"/>
                          </a:solidFill>
                          <a:latin typeface="Aptos"/>
                        </a:defRPr>
                      </a:pPr>
                      <a:r>
                        <a:t>Std. LightGBM @0.50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01F35"/>
                          </a:solidFill>
                          <a:latin typeface="Aptos"/>
                        </a:defRPr>
                      </a:pPr>
                      <a:r>
                        <a:t>0.476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01F35"/>
                          </a:solidFill>
                          <a:latin typeface="Aptos"/>
                        </a:defRPr>
                      </a:pPr>
                      <a:r>
                        <a:t>0.714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01F35"/>
                          </a:solidFill>
                          <a:latin typeface="Aptos"/>
                        </a:defRPr>
                      </a:pPr>
                      <a:r>
                        <a:t>59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01F35"/>
                          </a:solidFill>
                          <a:latin typeface="Aptos"/>
                        </a:defRPr>
                      </a:pPr>
                      <a:r>
                        <a:t>Best PR-AUC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01F35"/>
                          </a:solidFill>
                          <a:latin typeface="Aptos"/>
                        </a:defRPr>
                      </a:pPr>
                      <a:r>
                        <a:t>Bal. LightGBM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01F3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01F35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0">
                          <a:solidFill>
                            <a:srgbClr val="101F35"/>
                          </a:solidFill>
                          <a:latin typeface="Aptos"/>
                        </a:defRPr>
                      </a:pPr>
                      <a:r>
                        <a:t>0.654</a:t>
                      </a:r>
                    </a:p>
                  </a:txBody>
                  <a:tcPr marL="36576" marR="36576"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bullet_text"/>
          <p:cNvSpPr txBox="1"/>
          <p:nvPr/>
        </p:nvSpPr>
        <p:spPr>
          <a:xfrm>
            <a:off x="7315200" y="347472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01F35"/>
                </a:solidFill>
                <a:latin typeface="Aptos"/>
              </a:defRPr>
            </a:pPr>
            <a:r>
              <a:t>Balanced Logistic finds 18 of 21 at-risk students.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01F35"/>
                </a:solidFill>
                <a:latin typeface="Aptos"/>
              </a:defRPr>
            </a:pPr>
            <a:r>
              <a:t>Standard LightGBM has fewer false alerts.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01F35"/>
                </a:solidFill>
                <a:latin typeface="Aptos"/>
              </a:defRPr>
            </a:pPr>
            <a:r>
              <a:t>This is an operating-policy decision, not just a model contest.</a:t>
            </a:r>
          </a:p>
        </p:txBody>
      </p:sp>
      <p:sp>
        <p:nvSpPr>
          <p:cNvPr id="10" name="footer_left"/>
          <p:cNvSpPr txBox="1"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850" b="0">
                <a:solidFill>
                  <a:srgbClr val="475569"/>
                </a:solidFill>
                <a:latin typeface="Aptos"/>
              </a:defRPr>
            </a:pPr>
            <a:r>
              <a:t>YadYar Lite • T-29 At-Risk Student Prediction</a:t>
            </a:r>
          </a:p>
        </p:txBody>
      </p:sp>
      <p:sp>
        <p:nvSpPr>
          <p:cNvPr id="11" name="footer_page"/>
          <p:cNvSpPr txBox="1"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475569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12" name="Picture 11" descr="kntu_icon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319" y="73152"/>
            <a:ext cx="658368" cy="463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rative_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ative_footer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ative_accent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3100" b="1">
                <a:solidFill>
                  <a:srgbClr val="101F35"/>
                </a:solidFill>
                <a:latin typeface="Aptos"/>
              </a:defRPr>
            </a:pPr>
            <a:r>
              <a:t>Why Accuracy alone is misleading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30352" y="8869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1300" b="0">
                <a:solidFill>
                  <a:srgbClr val="475569"/>
                </a:solidFill>
                <a:latin typeface="Aptos"/>
              </a:defRPr>
            </a:pPr>
            <a:r>
              <a:t>The majority model looks acceptable but misses every at-risk student</a:t>
            </a:r>
          </a:p>
        </p:txBody>
      </p:sp>
      <p:pic>
        <p:nvPicPr>
          <p:cNvPr id="7" name="dummy_confusion" descr="confusion_dummy_majority_t0.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120640" cy="4023360"/>
          </a:xfrm>
          <a:prstGeom prst="rect">
            <a:avLst/>
          </a:prstGeom>
        </p:spPr>
      </p:pic>
      <p:pic>
        <p:nvPicPr>
          <p:cNvPr id="8" name="balanced_confusion" descr="confusion_logistic_balanced_t0.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325880"/>
            <a:ext cx="5120640" cy="4023360"/>
          </a:xfrm>
          <a:prstGeom prst="rect">
            <a:avLst/>
          </a:prstGeom>
        </p:spPr>
      </p:pic>
      <p:sp>
        <p:nvSpPr>
          <p:cNvPr id="9" name="label"/>
          <p:cNvSpPr/>
          <p:nvPr/>
        </p:nvSpPr>
        <p:spPr>
          <a:xfrm>
            <a:off x="1645920" y="5440680"/>
            <a:ext cx="2834640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Aptos"/>
              </a:defRPr>
            </a:pPr>
            <a:r>
              <a:t>72.7% Accuracy, 0% Recall</a:t>
            </a:r>
          </a:p>
        </p:txBody>
      </p:sp>
      <p:sp>
        <p:nvSpPr>
          <p:cNvPr id="10" name="label"/>
          <p:cNvSpPr/>
          <p:nvPr/>
        </p:nvSpPr>
        <p:spPr>
          <a:xfrm>
            <a:off x="6812280" y="5440680"/>
            <a:ext cx="3566160" cy="4114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>
              <a:lnSpc>
                <a:spcPct val="100000"/>
              </a:lnSpc>
              <a:defRPr sz="1200" b="1">
                <a:solidFill>
                  <a:srgbClr val="FFFFFF"/>
                </a:solidFill>
                <a:latin typeface="Aptos"/>
              </a:defRPr>
            </a:pPr>
            <a:r>
              <a:t>85.7% Recall, only 3 FN</a:t>
            </a:r>
          </a:p>
        </p:txBody>
      </p:sp>
      <p:sp>
        <p:nvSpPr>
          <p:cNvPr id="11" name="footer_left"/>
          <p:cNvSpPr txBox="1"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850" b="0">
                <a:solidFill>
                  <a:srgbClr val="475569"/>
                </a:solidFill>
                <a:latin typeface="Aptos"/>
              </a:defRPr>
            </a:pPr>
            <a:r>
              <a:t>YadYar Lite • T-29 At-Risk Student Prediction</a:t>
            </a:r>
          </a:p>
        </p:txBody>
      </p:sp>
      <p:sp>
        <p:nvSpPr>
          <p:cNvPr id="12" name="footer_page"/>
          <p:cNvSpPr txBox="1"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475569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13" name="Picture 12" descr="kntu_icon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319" y="73152"/>
            <a:ext cx="658368" cy="4632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rative_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ative_footer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ative_accent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3100" b="1">
                <a:solidFill>
                  <a:srgbClr val="101F35"/>
                </a:solidFill>
                <a:latin typeface="Aptos"/>
              </a:defRPr>
            </a:pPr>
            <a:r>
              <a:t>Threshold trade-off and LightGBM explanation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30352" y="8869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1300" b="0">
                <a:solidFill>
                  <a:srgbClr val="475569"/>
                </a:solidFill>
                <a:latin typeface="Aptos"/>
              </a:defRPr>
            </a:pPr>
            <a:r>
              <a:t>Lower threshold reduces missed students but increases support alerts</a:t>
            </a:r>
          </a:p>
        </p:txBody>
      </p:sp>
      <p:pic>
        <p:nvPicPr>
          <p:cNvPr id="7" name="cost_chart" descr="operating_point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51000"/>
            <a:ext cx="5669280" cy="3464560"/>
          </a:xfrm>
          <a:prstGeom prst="rect">
            <a:avLst/>
          </a:prstGeom>
        </p:spPr>
      </p:pic>
      <p:pic>
        <p:nvPicPr>
          <p:cNvPr id="8" name="feature_importance" descr="lightgbm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94460"/>
            <a:ext cx="5303520" cy="3977640"/>
          </a:xfrm>
          <a:prstGeom prst="rect">
            <a:avLst/>
          </a:prstGeom>
        </p:spPr>
      </p:pic>
      <p:sp>
        <p:nvSpPr>
          <p:cNvPr id="9" name="takeaway"/>
          <p:cNvSpPr txBox="1"/>
          <p:nvPr/>
        </p:nvSpPr>
        <p:spPr>
          <a:xfrm>
            <a:off x="777240" y="5669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101F35"/>
                </a:solidFill>
                <a:latin typeface="Aptos"/>
              </a:defRPr>
            </a:pPr>
            <a:r>
              <a:t>Cost falls from 105 for the majority classifier to 45 at the high-recall Logistic operating point.</a:t>
            </a:r>
          </a:p>
        </p:txBody>
      </p:sp>
      <p:sp>
        <p:nvSpPr>
          <p:cNvPr id="10" name="footer_left"/>
          <p:cNvSpPr txBox="1"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850" b="0">
                <a:solidFill>
                  <a:srgbClr val="475569"/>
                </a:solidFill>
                <a:latin typeface="Aptos"/>
              </a:defRPr>
            </a:pPr>
            <a:r>
              <a:t>YadYar Lite • T-29 At-Risk Student Prediction</a:t>
            </a:r>
          </a:p>
        </p:txBody>
      </p:sp>
      <p:sp>
        <p:nvSpPr>
          <p:cNvPr id="11" name="footer_page"/>
          <p:cNvSpPr txBox="1"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475569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12" name="Picture 11" descr="kntu_icon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3319" y="73152"/>
            <a:ext cx="658368" cy="4632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rative_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ative_footer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ative_accent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Error analysis: missed and over-flagged students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30352" y="8869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1300" b="0">
                <a:solidFill>
                  <a:srgbClr val="475569"/>
                </a:solidFill>
                <a:latin typeface="Aptos"/>
              </a:defRPr>
            </a:pPr>
            <a:r>
              <a:t>Representative mistakes and engagement groups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325880"/>
          <a:ext cx="58521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ontent_block"/>
          <p:cNvSpPr/>
          <p:nvPr/>
        </p:nvSpPr>
        <p:spPr>
          <a:xfrm>
            <a:off x="6903720" y="1417320"/>
            <a:ext cx="448056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rative_accentbar"/>
          <p:cNvSpPr/>
          <p:nvPr/>
        </p:nvSpPr>
        <p:spPr>
          <a:xfrm>
            <a:off x="6903720" y="1417320"/>
            <a:ext cx="73152" cy="1234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_text"/>
          <p:cNvSpPr txBox="1"/>
          <p:nvPr/>
        </p:nvSpPr>
        <p:spPr>
          <a:xfrm>
            <a:off x="7068312" y="1527048"/>
            <a:ext cx="4160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1F35"/>
                </a:solidFill>
                <a:latin typeface="Aptos"/>
              </a:defRPr>
            </a:pPr>
            <a:r>
              <a:t>False negatives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Aptos"/>
              </a:defRPr>
            </a:pPr>
            <a:r>
              <a:t>Most serious: at-risk students not flagged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Aptos"/>
              </a:defRPr>
            </a:pPr>
            <a:r>
              <a:t>Some look active early, then fail or withdraw</a:t>
            </a:r>
          </a:p>
        </p:txBody>
      </p:sp>
      <p:sp>
        <p:nvSpPr>
          <p:cNvPr id="11" name="content_block"/>
          <p:cNvSpPr/>
          <p:nvPr/>
        </p:nvSpPr>
        <p:spPr>
          <a:xfrm>
            <a:off x="6903720" y="2880360"/>
            <a:ext cx="448056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orative_accentbar"/>
          <p:cNvSpPr/>
          <p:nvPr/>
        </p:nvSpPr>
        <p:spPr>
          <a:xfrm>
            <a:off x="6903720" y="288036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_text"/>
          <p:cNvSpPr txBox="1"/>
          <p:nvPr/>
        </p:nvSpPr>
        <p:spPr>
          <a:xfrm>
            <a:off x="7068312" y="2990088"/>
            <a:ext cx="4160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1F35"/>
                </a:solidFill>
                <a:latin typeface="Aptos"/>
              </a:defRPr>
            </a:pPr>
            <a:r>
              <a:t>False positives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Aptos"/>
              </a:defRPr>
            </a:pPr>
            <a:r>
              <a:t>Low early activity or missing early score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Aptos"/>
              </a:defRPr>
            </a:pPr>
            <a:r>
              <a:t>Some students later recover and pass</a:t>
            </a:r>
          </a:p>
        </p:txBody>
      </p:sp>
      <p:sp>
        <p:nvSpPr>
          <p:cNvPr id="14" name="content_block"/>
          <p:cNvSpPr/>
          <p:nvPr/>
        </p:nvSpPr>
        <p:spPr>
          <a:xfrm>
            <a:off x="6903720" y="4343400"/>
            <a:ext cx="448056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corative_accentbar"/>
          <p:cNvSpPr/>
          <p:nvPr/>
        </p:nvSpPr>
        <p:spPr>
          <a:xfrm>
            <a:off x="6903720" y="4343400"/>
            <a:ext cx="73152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_text"/>
          <p:cNvSpPr txBox="1"/>
          <p:nvPr/>
        </p:nvSpPr>
        <p:spPr>
          <a:xfrm>
            <a:off x="7068312" y="4453128"/>
            <a:ext cx="4160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1F35"/>
                </a:solidFill>
                <a:latin typeface="Aptos"/>
              </a:defRPr>
            </a:pPr>
            <a:r>
              <a:t>Main slice finding</a:t>
            </a:r>
          </a:p>
          <a:p>
            <a:pPr>
              <a:spcAft>
                <a:spcPts val="200"/>
              </a:spcAft>
              <a:defRPr sz="1150">
                <a:solidFill>
                  <a:srgbClr val="475569"/>
                </a:solidFill>
                <a:latin typeface="Aptos"/>
              </a:defRPr>
            </a:pPr>
            <a:r>
              <a:t>Low engagement has the highest at-risk rate</a:t>
            </a:r>
          </a:p>
        </p:txBody>
      </p:sp>
      <p:sp>
        <p:nvSpPr>
          <p:cNvPr id="17" name="footer_left"/>
          <p:cNvSpPr txBox="1"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850" b="0">
                <a:solidFill>
                  <a:srgbClr val="475569"/>
                </a:solidFill>
                <a:latin typeface="Aptos"/>
              </a:defRPr>
            </a:pPr>
            <a:r>
              <a:t>YadYar Lite • T-29 At-Risk Student Prediction</a:t>
            </a:r>
          </a:p>
        </p:txBody>
      </p:sp>
      <p:sp>
        <p:nvSpPr>
          <p:cNvPr id="18" name="footer_page"/>
          <p:cNvSpPr txBox="1"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475569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19" name="Picture 18" descr="kntu_icon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319" y="73152"/>
            <a:ext cx="658368" cy="4632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rative_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ative_footer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ative_accent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3100" b="1">
                <a:solidFill>
                  <a:srgbClr val="101F35"/>
                </a:solidFill>
                <a:latin typeface="Aptos"/>
              </a:defRPr>
            </a:pPr>
            <a:r>
              <a:t>Demo and future integration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30352" y="8869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1300" b="0">
                <a:solidFill>
                  <a:srgbClr val="475569"/>
                </a:solidFill>
                <a:latin typeface="Aptos"/>
              </a:defRPr>
            </a:pPr>
            <a:r>
              <a:t>A lightweight warning component for a learning assistant</a:t>
            </a:r>
          </a:p>
        </p:txBody>
      </p:sp>
      <p:sp>
        <p:nvSpPr>
          <p:cNvPr id="7" name="content_block"/>
          <p:cNvSpPr/>
          <p:nvPr/>
        </p:nvSpPr>
        <p:spPr>
          <a:xfrm>
            <a:off x="777240" y="1417320"/>
            <a:ext cx="29260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rative_accentbar"/>
          <p:cNvSpPr/>
          <p:nvPr/>
        </p:nvSpPr>
        <p:spPr>
          <a:xfrm>
            <a:off x="777240" y="14173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_text"/>
          <p:cNvSpPr txBox="1"/>
          <p:nvPr/>
        </p:nvSpPr>
        <p:spPr>
          <a:xfrm>
            <a:off x="941832" y="1527048"/>
            <a:ext cx="2606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01F35"/>
                </a:solidFill>
                <a:latin typeface="Aptos"/>
              </a:defRPr>
            </a:pPr>
            <a:r>
              <a:t>Input</a:t>
            </a:r>
          </a:p>
          <a:p>
            <a:pPr>
              <a:spcAft>
                <a:spcPts val="2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first-30-day</a:t>
            </a:r>
          </a:p>
          <a:p>
            <a:pPr>
              <a:spcAft>
                <a:spcPts val="2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student features</a:t>
            </a:r>
          </a:p>
        </p:txBody>
      </p:sp>
      <p:cxnSp>
        <p:nvCxnSpPr>
          <p:cNvPr id="10" name="connector"/>
          <p:cNvCxnSpPr/>
          <p:nvPr/>
        </p:nvCxnSpPr>
        <p:spPr>
          <a:xfrm>
            <a:off x="3794759" y="2039112"/>
            <a:ext cx="502921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_block"/>
          <p:cNvSpPr/>
          <p:nvPr/>
        </p:nvSpPr>
        <p:spPr>
          <a:xfrm>
            <a:off x="4526279" y="1417320"/>
            <a:ext cx="29260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orative_accentbar"/>
          <p:cNvSpPr/>
          <p:nvPr/>
        </p:nvSpPr>
        <p:spPr>
          <a:xfrm>
            <a:off x="4526279" y="1417320"/>
            <a:ext cx="73152" cy="1234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_text"/>
          <p:cNvSpPr txBox="1"/>
          <p:nvPr/>
        </p:nvSpPr>
        <p:spPr>
          <a:xfrm>
            <a:off x="4690871" y="1527048"/>
            <a:ext cx="2606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01F35"/>
                </a:solidFill>
                <a:latin typeface="Aptos"/>
              </a:defRPr>
            </a:pPr>
            <a:r>
              <a:t>Risk model</a:t>
            </a:r>
          </a:p>
          <a:p>
            <a:pPr>
              <a:spcAft>
                <a:spcPts val="2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probability +</a:t>
            </a:r>
          </a:p>
          <a:p>
            <a:pPr>
              <a:spcAft>
                <a:spcPts val="2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threshold</a:t>
            </a:r>
          </a:p>
        </p:txBody>
      </p:sp>
      <p:cxnSp>
        <p:nvCxnSpPr>
          <p:cNvPr id="14" name="connector"/>
          <p:cNvCxnSpPr/>
          <p:nvPr/>
        </p:nvCxnSpPr>
        <p:spPr>
          <a:xfrm>
            <a:off x="7543800" y="2039112"/>
            <a:ext cx="502919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_block"/>
          <p:cNvSpPr/>
          <p:nvPr/>
        </p:nvSpPr>
        <p:spPr>
          <a:xfrm>
            <a:off x="8275319" y="1417320"/>
            <a:ext cx="29260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corative_accentbar"/>
          <p:cNvSpPr/>
          <p:nvPr/>
        </p:nvSpPr>
        <p:spPr>
          <a:xfrm>
            <a:off x="8275319" y="141732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_text"/>
          <p:cNvSpPr txBox="1"/>
          <p:nvPr/>
        </p:nvSpPr>
        <p:spPr>
          <a:xfrm>
            <a:off x="8439911" y="1527048"/>
            <a:ext cx="2606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01F35"/>
                </a:solidFill>
                <a:latin typeface="Aptos"/>
              </a:defRPr>
            </a:pPr>
            <a:r>
              <a:t>Output</a:t>
            </a:r>
          </a:p>
          <a:p>
            <a:pPr>
              <a:spcAft>
                <a:spcPts val="2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at-risk flag</a:t>
            </a:r>
          </a:p>
          <a:p>
            <a:pPr>
              <a:spcAft>
                <a:spcPts val="2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for tutor review</a:t>
            </a:r>
          </a:p>
        </p:txBody>
      </p:sp>
      <p:sp>
        <p:nvSpPr>
          <p:cNvPr id="18" name="demo_output"/>
          <p:cNvSpPr/>
          <p:nvPr/>
        </p:nvSpPr>
        <p:spPr>
          <a:xfrm>
            <a:off x="868680" y="3337560"/>
            <a:ext cx="4846320" cy="1554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500">
                <a:solidFill>
                  <a:srgbClr val="E2E8F0"/>
                </a:solidFill>
                <a:latin typeface="Consolas"/>
              </a:defRPr>
            </a:pPr>
            <a:r>
              <a:t>{ risk_probability: 0.74,</a:t>
            </a:r>
            <a:br/>
            <a:r>
              <a:t>  prediction: "At Risk",</a:t>
            </a:r>
            <a:br/>
            <a:r>
              <a:t>  action: "Early academic support" }</a:t>
            </a:r>
          </a:p>
        </p:txBody>
      </p:sp>
      <p:sp>
        <p:nvSpPr>
          <p:cNvPr id="19" name="bullet_text"/>
          <p:cNvSpPr txBox="1"/>
          <p:nvPr/>
        </p:nvSpPr>
        <p:spPr>
          <a:xfrm>
            <a:off x="6400800" y="3154680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01F35"/>
                </a:solidFill>
                <a:latin typeface="Aptos"/>
              </a:defRPr>
            </a:pPr>
            <a:r>
              <a:t>Limitations and future work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01F35"/>
                </a:solidFill>
                <a:latin typeface="Aptos"/>
              </a:defRPr>
            </a:pPr>
            <a:r>
              <a:t>One course presentation only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01F35"/>
                </a:solidFill>
                <a:latin typeface="Aptos"/>
              </a:defRPr>
            </a:pPr>
            <a:r>
              <a:t>Small test set: 21 at-risk students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01F35"/>
                </a:solidFill>
                <a:latin typeface="Aptos"/>
              </a:defRPr>
            </a:pPr>
            <a:r>
              <a:t>Threshold and cost ratio are illustrative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500">
                <a:solidFill>
                  <a:srgbClr val="101F35"/>
                </a:solidFill>
                <a:latin typeface="Aptos"/>
              </a:defRPr>
            </a:pPr>
            <a:r>
              <a:t>Future: temporal split, tutor-capacity threshold, calibration and fairness checks</a:t>
            </a:r>
          </a:p>
        </p:txBody>
      </p:sp>
      <p:sp>
        <p:nvSpPr>
          <p:cNvPr id="20" name="final_conclusion"/>
          <p:cNvSpPr txBox="1"/>
          <p:nvPr/>
        </p:nvSpPr>
        <p:spPr>
          <a:xfrm>
            <a:off x="777240" y="5623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101F35"/>
                </a:solidFill>
                <a:latin typeface="Aptos"/>
              </a:defRPr>
            </a:pPr>
            <a:r>
              <a:t>Use the model as a configurable, human-reviewed early-warning signal — not as an automatic decision system.</a:t>
            </a:r>
          </a:p>
        </p:txBody>
      </p:sp>
      <p:sp>
        <p:nvSpPr>
          <p:cNvPr id="21" name="footer_left"/>
          <p:cNvSpPr txBox="1"/>
          <p:nvPr/>
        </p:nvSpPr>
        <p:spPr>
          <a:xfrm>
            <a:off x="502920" y="647395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850" b="0">
                <a:solidFill>
                  <a:srgbClr val="475569"/>
                </a:solidFill>
                <a:latin typeface="Aptos"/>
              </a:defRPr>
            </a:pPr>
            <a:r>
              <a:t>YadYar Lite • T-29 At-Risk Student Prediction</a:t>
            </a:r>
          </a:p>
        </p:txBody>
      </p:sp>
      <p:sp>
        <p:nvSpPr>
          <p:cNvPr id="22" name="footer_page"/>
          <p:cNvSpPr txBox="1"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  <a:defRPr sz="850" b="0">
                <a:solidFill>
                  <a:srgbClr val="475569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23" name="Picture 22" descr="kntu_icon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19" y="73152"/>
            <a:ext cx="658368" cy="4632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